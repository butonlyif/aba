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3A7BC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474720"/>
            <a:ext cx="5943600" cy="59436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2194560" cy="2194560"/>
          </a:xfrm>
          <a:prstGeom prst="ellipse">
            <a:avLst/>
          </a:prstGeom>
          <a:solidFill>
            <a:srgbClr val="F0805A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914400"/>
            <a:ext cx="2468880" cy="4572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9509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BUSINESS 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148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让每一个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「星星家庭」都被稳稳接住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C4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面向自闭症儿童家长的 AI 包裹式支撑平台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4800600"/>
            <a:ext cx="3108960" cy="9144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92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 智能助手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帮孩子 · 科学干预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77640" y="4800600"/>
            <a:ext cx="310896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4892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人生教练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顾家长 · 心理支撑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5EC4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  ·  对外融资 / 政府公益合作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我们看到的问题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一个自闭症孩子，冲击的是整个家庭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75688"/>
            <a:ext cx="868680" cy="86868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0428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057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经济重担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65960" y="249631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年均康复支出 5–6 万，常需一方辞职陪训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075688"/>
            <a:ext cx="868680" cy="868680"/>
          </a:xfrm>
          <a:prstGeom prst="ellipse">
            <a:avLst/>
          </a:prstGeom>
          <a:solidFill>
            <a:srgbClr val="E267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0428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057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照护耗竭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715000" y="249631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每周 20–40h 高强度干预，全年无休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1783080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075688"/>
            <a:ext cx="868680" cy="868680"/>
          </a:xfrm>
          <a:prstGeom prst="ellipse">
            <a:avLst/>
          </a:prstGeom>
          <a:solidFill>
            <a:srgbClr val="F2B44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30428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64040" y="2057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心理危机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64040" y="249631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家长焦虑、抑郁检出率远高于普通人群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547872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3840480"/>
            <a:ext cx="868680" cy="8686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690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38221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婚姻压力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965960" y="426110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分歧、指责，离异风险上升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89120" y="3547872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3840480"/>
            <a:ext cx="868680" cy="86868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0690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15000" y="38221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社交孤立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5715000" y="426110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被误解、回避社交，支持网络萎缩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38160" y="3547872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3840480"/>
            <a:ext cx="868680" cy="868680"/>
          </a:xfrm>
          <a:prstGeom prst="ellipse">
            <a:avLst/>
          </a:prstGeom>
          <a:solidFill>
            <a:srgbClr val="3A7BC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0690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64040" y="38221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职业中断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9464040" y="426110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晋升停滞、收入下降、返岗困难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40080" y="5989320"/>
            <a:ext cx="10927080" cy="548640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36" name="Text 28"/>
          <p:cNvSpPr/>
          <p:nvPr/>
        </p:nvSpPr>
        <p:spPr>
          <a:xfrm>
            <a:off x="640080" y="59893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现有市场几乎只服务「孩子的康复」——而家长，长期无人接住。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我们的解法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包裹式家庭支撑：一个平台，托住整个家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27080" cy="429768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自闭症孩子的家庭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377440"/>
            <a:ext cx="4572000" cy="3291840"/>
          </a:xfrm>
          <a:prstGeom prst="rect">
            <a:avLst/>
          </a:prstGeom>
          <a:solidFill>
            <a:srgbClr val="3A7BC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54680" y="2606040"/>
            <a:ext cx="822960" cy="82296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848" y="280720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520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帮孩子 · ABA 智能助手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40233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122 项技能评估与训练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DTT 标准记录 + 数据看板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AI 问答 + 自动训练计划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结构化进展报告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46520" y="2377440"/>
            <a:ext cx="4572000" cy="32918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12480" y="2606040"/>
            <a:ext cx="822960" cy="82296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28072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37960" y="3520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顾家长 · 人生教练（ACT）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812280" y="40233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24h AI 教练对话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情绪追踪 + 危机识别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个性化成长路径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10 大主题知识库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815584" y="3566160"/>
            <a:ext cx="822960" cy="8229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8" name="Text 14"/>
          <p:cNvSpPr/>
          <p:nvPr/>
        </p:nvSpPr>
        <p:spPr>
          <a:xfrm>
            <a:off x="5815584" y="3703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市场规模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千亿康复市场，千万级家长支持需求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" cy="141732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9339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1300万+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孤独症患者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828800"/>
            <a:ext cx="82296" cy="1417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99339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200–300万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0–14 岁儿童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828800"/>
            <a:ext cx="82296" cy="1417320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99339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20万/年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新增患者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182880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06840" y="1828800"/>
            <a:ext cx="82296" cy="14173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1993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30万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0982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康复师缺口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康复市场规模（亿元 / 年）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2023110" cy="548640"/>
          </a:xfrm>
          <a:prstGeom prst="rect">
            <a:avLst/>
          </a:prstGeom>
          <a:solidFill>
            <a:srgbClr val="E3EEF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69080"/>
            <a:ext cx="1840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小龄康复 0–6 岁    600 亿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3143250" cy="54864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92040"/>
            <a:ext cx="29603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0–18 岁孤独症康复    1,800 亿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424160" cy="548640"/>
          </a:xfrm>
          <a:prstGeom prst="rect">
            <a:avLst/>
          </a:prstGeom>
          <a:solidFill>
            <a:srgbClr val="1C3D5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715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三项发展障碍康复    9,600 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数据来源：北大医疗脑健康《2020 年度儿童发展障碍康复报告》、中国残联 2023 普查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市场空间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从整体市场到我们可获取的市场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937760" cy="1325880"/>
          </a:xfrm>
          <a:custGeom>
            <a:avLst/>
            <a:gdLst/>
            <a:ahLst/>
            <a:cxnLst/>
            <a:rect l="l" t="t" r="r" b="b"/>
            <a:pathLst>
              <a:path w="4937760" h="1325880">
                <a:moveTo>
                  <a:pt x="0" y="0"/>
                </a:moveTo>
                <a:lnTo>
                  <a:pt x="4937760" y="0"/>
                </a:lnTo>
                <a:lnTo>
                  <a:pt x="4343400" y="1325880"/>
                </a:lnTo>
                <a:lnTo>
                  <a:pt x="594360" y="1325880"/>
                </a:lnTo>
                <a:close/>
              </a:path>
            </a:pathLst>
          </a:custGeom>
          <a:solidFill>
            <a:srgbClr val="1C3D5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534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5831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整体市场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943100"/>
            <a:ext cx="50292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C3D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43100"/>
            <a:ext cx="109728" cy="1188720"/>
          </a:xfrm>
          <a:prstGeom prst="rect">
            <a:avLst/>
          </a:prstGeom>
          <a:solidFill>
            <a:srgbClr val="1C3D5E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1076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TAM  ·  </a:t>
            </a:r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1800 亿/年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5648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0–18 岁孤独症康复 + 千万级家长心理支持需求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3255264"/>
            <a:ext cx="3749040" cy="1325880"/>
          </a:xfrm>
          <a:custGeom>
            <a:avLst/>
            <a:gdLst/>
            <a:ahLst/>
            <a:cxnLst/>
            <a:rect l="l" t="t" r="r" b="b"/>
            <a:pathLst>
              <a:path w="3749040" h="1325880">
                <a:moveTo>
                  <a:pt x="0" y="0"/>
                </a:moveTo>
                <a:lnTo>
                  <a:pt x="3749040" y="0"/>
                </a:lnTo>
                <a:lnTo>
                  <a:pt x="3154680" y="1325880"/>
                </a:lnTo>
                <a:lnTo>
                  <a:pt x="594360" y="1325880"/>
                </a:lnTo>
                <a:close/>
              </a:path>
            </a:pathLst>
          </a:custGeom>
          <a:solidFill>
            <a:srgbClr val="3A7BC8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5341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9639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可服务市场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3323844"/>
            <a:ext cx="50292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3A7B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3323844"/>
            <a:ext cx="109728" cy="118872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4884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  ·  </a:t>
            </a:r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数字化 + SaaS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39456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数字化干预与家长支持 SaaS，2025 数字疗法破 10 亿且高增长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4636008"/>
            <a:ext cx="2560320" cy="1325880"/>
          </a:xfrm>
          <a:custGeom>
            <a:avLst/>
            <a:gdLst/>
            <a:ahLst/>
            <a:cxnLst/>
            <a:rect l="l" t="t" r="r" b="b"/>
            <a:pathLst>
              <a:path w="2560320" h="1325880">
                <a:moveTo>
                  <a:pt x="0" y="0"/>
                </a:moveTo>
                <a:lnTo>
                  <a:pt x="2560320" y="0"/>
                </a:lnTo>
                <a:lnTo>
                  <a:pt x="1965960" y="1325880"/>
                </a:lnTo>
                <a:lnTo>
                  <a:pt x="594360" y="132588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49149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11680" y="53446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可获取市场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704588"/>
            <a:ext cx="50292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4704588"/>
            <a:ext cx="109728" cy="1188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8691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  ·  </a:t>
            </a:r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5–8 万付费家庭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53263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年内聚焦 6 城 + 政府购买（基于渗透率假设）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为什么是现在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政策红利：从「鼓励」到「政府购买」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 年 7 月，七部门联合印发《孤独症儿童关爱促进行动实施方案（2024—2028 年）》，其中「家庭暖心行动」与我们高度契合：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606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0180" y="3017520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326440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家长送训补贴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617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拓展救助内容，确保「应救尽救」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47288" y="2606040"/>
            <a:ext cx="2606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47388" y="3017520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32644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政府购买服务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75888" y="4617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心理疏导、托养、喘息、社区支持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54496" y="2606040"/>
            <a:ext cx="2606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4596" y="3017520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326440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7376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家长培训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83096" y="4617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编写家长手册，普遍开展家长培训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61704" y="2606040"/>
            <a:ext cx="2606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61804" y="3017520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3264408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44584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纳入医保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290304" y="4617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 项医疗康复项目纳入医保支付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577840"/>
            <a:ext cx="10927080" cy="566928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557784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政策正把「支持家长」变为可付费的公共服务采购项 —— 这是我们 G 端收入与公益申报的政策抓手。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竞争格局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所有人都在「教孩子」，没人接住家长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377440" cy="658368"/>
          </a:xfrm>
          <a:prstGeom prst="rect">
            <a:avLst/>
          </a:prstGeom>
          <a:solidFill>
            <a:srgbClr val="3A7BC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代表机构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3291840" cy="658368"/>
          </a:xfrm>
          <a:prstGeom prst="rect">
            <a:avLst/>
          </a:prstGeom>
          <a:solidFill>
            <a:srgbClr val="3A7BC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920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3291840" cy="658368"/>
          </a:xfrm>
          <a:prstGeom prst="rect">
            <a:avLst/>
          </a:prstGeom>
          <a:solidFill>
            <a:srgbClr val="3A7BC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20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/ 规模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1920240"/>
            <a:ext cx="1965960" cy="658368"/>
          </a:xfrm>
          <a:prstGeom prst="rect">
            <a:avLst/>
          </a:prstGeom>
          <a:solidFill>
            <a:srgbClr val="3A7BC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0" y="19202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服务对象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578608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786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大米和小米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257860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5786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线下连锁 + RICE 体系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57860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786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1.4 亿+，30+ 中心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0" y="257860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257860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236976"/>
            <a:ext cx="237744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2369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东方启音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17520" y="3236976"/>
            <a:ext cx="329184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2369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语言康复连锁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236976"/>
            <a:ext cx="329184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2369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累计约 2.8 亿美元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0" y="3236976"/>
            <a:ext cx="196596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323697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895344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9534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恩启 / 五彩鹿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17520" y="389534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8953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互联网/连锁康复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389534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8953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数千万元级 / 未融资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601200" y="389534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38360" y="389534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4553712"/>
            <a:ext cx="237744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55371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ALSOLIFE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017520" y="4553712"/>
            <a:ext cx="329184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4680" y="4553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数字化干预 + AI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09360" y="4553712"/>
            <a:ext cx="329184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553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成本降至数元/节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601200" y="4553712"/>
            <a:ext cx="196596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38360" y="455371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" y="5212080"/>
            <a:ext cx="2377440" cy="658368"/>
          </a:xfrm>
          <a:prstGeom prst="rect">
            <a:avLst/>
          </a:prstGeom>
          <a:solidFill>
            <a:srgbClr val="CFEDE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2120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本项目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017520" y="5212080"/>
            <a:ext cx="3291840" cy="658368"/>
          </a:xfrm>
          <a:prstGeom prst="rect">
            <a:avLst/>
          </a:prstGeom>
          <a:solidFill>
            <a:srgbClr val="CFEDE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54680" y="5212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包裹式家庭支撑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09360" y="5212080"/>
            <a:ext cx="3291840" cy="658368"/>
          </a:xfrm>
          <a:prstGeom prst="rect">
            <a:avLst/>
          </a:prstGeom>
          <a:solidFill>
            <a:srgbClr val="CFEDE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5212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601200" y="5212080"/>
            <a:ext cx="1965960" cy="658368"/>
          </a:xfrm>
          <a:prstGeom prst="rect">
            <a:avLst/>
          </a:prstGeom>
          <a:solidFill>
            <a:srgbClr val="CFEDE8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38360" y="52120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 + 家长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40080" y="5989320"/>
            <a:ext cx="10927080" cy="548640"/>
          </a:xfrm>
          <a:prstGeom prst="rect">
            <a:avLst/>
          </a:prstGeom>
          <a:solidFill>
            <a:srgbClr val="1C3D5E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9893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它们以重资产线下连锁服务「孩子」；我们以 AI 轻资产服务「家长」—— 互补而非竞争，它们的客户正是我们的客户。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 / B / G 三条收入线协同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3520440" cy="77724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 端家庭订阅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自闭症儿童家庭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形态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会员订阅 + 增值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599–999 元/年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892040"/>
            <a:ext cx="2971800" cy="50292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验证需求与口碑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1920240"/>
            <a:ext cx="35204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16552" y="1920240"/>
            <a:ext cx="352044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6552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端机构合作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90872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康复机构 / 医院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0872" y="3749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形态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SaaS 授权 + 分成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200–500 元/家庭/年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90872" y="4892040"/>
            <a:ext cx="2971800" cy="50292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4690872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借机构家庭放量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93024" y="1920240"/>
            <a:ext cx="35204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93024" y="1920240"/>
            <a:ext cx="3520440" cy="7772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 端政府购买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67344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残联 / 政府 / 公益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67344" y="3749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形态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政府购买服务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按项目打包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67344" y="4892040"/>
            <a:ext cx="2971800" cy="50292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467344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降低付费门槛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落地路径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三步走：打磨验证 → 复制合作 → 规模壁垒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3520440" cy="77724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年 · 打磨验证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双 App 数据闭环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3 城试点 1–2 万家庭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签约 2–3 家头部机构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42232" y="3383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6552" y="2103120"/>
            <a:ext cx="35204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103120"/>
            <a:ext cx="352044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年 · 复制合作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36592" y="31089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扩展至 6 城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接入政府购买项目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B 端 SaaS 标准化
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18704" y="3383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193024" y="2103120"/>
            <a:ext cx="35204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103120"/>
            <a:ext cx="3520440" cy="7772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193024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年 · 规模壁垒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13064" y="31089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全国 15+ 城覆盖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数据/算法壁垒成型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家长社区生态
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财务预测（基于假设）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三年营收预测 · 单位：万元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63040" y="5549001"/>
            <a:ext cx="1554480" cy="120279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5468815"/>
            <a:ext cx="1554480" cy="8018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5335172"/>
            <a:ext cx="1554480" cy="133643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9236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 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5760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5188165"/>
            <a:ext cx="1554480" cy="481115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4840693"/>
            <a:ext cx="1554480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4439764"/>
            <a:ext cx="1554480" cy="400929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40282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1,840 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5760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4266028"/>
            <a:ext cx="1554480" cy="140325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3263705"/>
            <a:ext cx="1554480" cy="100232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0" y="2194560"/>
            <a:ext cx="1554480" cy="1069145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5,200 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5760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2377440"/>
            <a:ext cx="320040" cy="32004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 端家庭订阅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0" y="2926080"/>
            <a:ext cx="320040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端机构合作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12480" y="3474720"/>
            <a:ext cx="320040" cy="3200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 端政府购买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假设：付费家庭 0.3 万 → 3–5 万；C 端年客单价约 600 元；G 端按地方购买服务打包。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本轮融资用途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本轮拟引入战略 / 财务投资，用于产品打磨、试点城市落地与政府 / 机构合作拓展。具体融资额与估值待与投资方沟通确定。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822960" cy="82296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00200" y="2697480"/>
            <a:ext cx="8686800" cy="822960"/>
          </a:xfrm>
          <a:prstGeom prst="rect">
            <a:avLst/>
          </a:prstGeom>
          <a:solidFill>
            <a:srgbClr val="3A7BC8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26974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产品与研发    </a:t>
            </a:r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引擎、安全层、数据平台与合规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30%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00200" y="3657600"/>
            <a:ext cx="6515100" cy="822960"/>
          </a:xfrm>
          <a:prstGeom prst="rect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36576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市场与渠道    </a:t>
            </a:r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端机构、G 端政府、家长社群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822960" cy="82296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17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20%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00200" y="4617720"/>
            <a:ext cx="4343400" cy="822960"/>
          </a:xfrm>
          <a:prstGeom prst="rect">
            <a:avLst/>
          </a:prstGeom>
          <a:solidFill>
            <a:srgbClr val="F2B441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83080" y="4617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团队建设    </a:t>
            </a:r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心理/ABA 专业、算法与产品人才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822960" cy="822960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7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600200" y="5577840"/>
            <a:ext cx="2171700" cy="822960"/>
          </a:xfrm>
          <a:prstGeom prst="rect">
            <a:avLst/>
          </a:prstGeom>
          <a:solidFill>
            <a:srgbClr val="F0805A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783080" y="5577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运营储备    </a:t>
            </a:r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试点城市落地与日常运营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943600" cy="5943600"/>
          </a:xfrm>
          <a:prstGeom prst="ellipse">
            <a:avLst/>
          </a:prstGeom>
          <a:solidFill>
            <a:srgbClr val="0F766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474720"/>
            <a:ext cx="4572000" cy="4572000"/>
          </a:xfrm>
          <a:prstGeom prst="ellipse">
            <a:avLst/>
          </a:prstGeom>
          <a:solidFill>
            <a:srgbClr val="3A7BC8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188720"/>
            <a:ext cx="914400" cy="91440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898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市场只治孩子，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我们接住整个家庭。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AI 把专业的 ABA 干预与温暖的 ACT 陪伴规模化、可负担——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让每一个「星星家庭」都被稳稳接住。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5852160"/>
            <a:ext cx="457200" cy="5486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EC4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星星家庭支撑平台  ·  ABA 智能助手 + 人生教练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商业计划书 · 路演版</dc:title>
  <dc:subject>PptxGenJS Presentation</dc:subject>
  <dc:creator>星星家庭支撑平台</dc:creator>
  <cp:lastModifiedBy>星星家庭支撑平台</cp:lastModifiedBy>
  <cp:revision>1</cp:revision>
  <dcterms:created xsi:type="dcterms:W3CDTF">2026-06-01T00:23:34Z</dcterms:created>
  <dcterms:modified xsi:type="dcterms:W3CDTF">2026-06-01T00:23:34Z</dcterms:modified>
</cp:coreProperties>
</file>