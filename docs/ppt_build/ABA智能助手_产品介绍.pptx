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5EC4B6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3657600" cy="3657600"/>
          </a:xfrm>
          <a:prstGeom prst="ellipse">
            <a:avLst/>
          </a:prstGeom>
          <a:solidFill>
            <a:srgbClr val="0F766E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40080"/>
            <a:ext cx="868680" cy="868680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8412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71323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ABA 智能助手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5EC4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陪孩子成长，也照顾好你自己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542032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一个账号，两个助手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13232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ABA 智能助手</a:t>
            </a:r>
            <a:pPr indent="0" marL="0">
              <a:buNone/>
            </a:pPr>
            <a:r>
              <a:rPr lang="en-US" sz="17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—— 面向孩子的科学干预    · 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人生教练</a:t>
            </a:r>
            <a:pPr indent="0" marL="0">
              <a:buNone/>
            </a:pPr>
            <a:r>
              <a:rPr lang="en-US" sz="17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—— 面向家长自己的成长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3232" y="4709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ABA（应用行为分析）+ ACT（接纳与承诺疗法）专业知识库，浏览器打开即用。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3232" y="6199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5EC4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面向自闭症儿童家庭 · 网页访问 · v1.4.0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为什么需要它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确诊之后，孩子和家长都需要支持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193792" cy="4526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193792" cy="10972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20240"/>
            <a:ext cx="731520" cy="731520"/>
          </a:xfrm>
          <a:prstGeom prst="ellipse">
            <a:avLst/>
          </a:prstGeom>
          <a:solidFill>
            <a:srgbClr val="3A7BC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9933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孩子这边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0584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28803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知识门槛高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刚接触 ABA，不知道从何学起、目标怎么定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39044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390448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记录负担重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训练数据靠手记，难统计、难看趋势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49286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80160" y="4928616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缺即时指导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孩子突发行为问题，身边没人能立刻问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1600200"/>
            <a:ext cx="5193792" cy="4526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1600200"/>
            <a:ext cx="5193792" cy="109728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5120" y="1920240"/>
            <a:ext cx="731520" cy="731520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031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43800" y="19933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家长这边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672084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995160" y="28803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长期高压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自闭症家长焦虑、抑郁、压力水平显著偏高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720840" y="39044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995160" y="390448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容易耗竭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把全部精力给孩子，丢了自己、濒临 burnout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720840" y="49286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6995160" y="4928616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孤立无援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「身边都是人，却没人真正理解我」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产品全景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一个账号，两个助手，免登录互跳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登录一次，在「帮孩子」和「顾自己」之间一键整页切换，数据互通、账号共享。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4937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03120"/>
            <a:ext cx="4937760" cy="10972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423160"/>
            <a:ext cx="914400" cy="914400"/>
          </a:xfrm>
          <a:prstGeom prst="ellipse">
            <a:avLst/>
          </a:prstGeom>
          <a:solidFill>
            <a:srgbClr val="3A7BC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651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94560" y="24323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ABA 智能助手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194560" y="2852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面向孩子  </a:t>
            </a:r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蓝色界面 · 网页 8501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356616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问答 · 孩子档案 · 个案记忆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训练记录闭环：评估→任务→试次→报告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数据看板 · 自动周/月报告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46520" y="2103120"/>
            <a:ext cx="4937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103120"/>
            <a:ext cx="4937760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2"/>
          <p:cNvSpPr/>
          <p:nvPr/>
        </p:nvSpPr>
        <p:spPr>
          <a:xfrm>
            <a:off x="6766560" y="2423160"/>
            <a:ext cx="914400" cy="9144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6517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18120" y="24323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人生教练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818120" y="2852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面向家长本人  </a:t>
            </a:r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绿色界面 · 网页 8503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858000" y="356616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教练对话 · 八种情绪识别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议题驱动的个性化成长路径（5 类模板）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情绪追踪 · AI 周报 · 心理知识库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769864" y="3474720"/>
            <a:ext cx="822960" cy="8229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1" name="Text 17"/>
          <p:cNvSpPr/>
          <p:nvPr/>
        </p:nvSpPr>
        <p:spPr>
          <a:xfrm>
            <a:off x="5769864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⇄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5404104" y="43251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免登录互跳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22960" y="5715000"/>
            <a:ext cx="10561320" cy="566928"/>
          </a:xfrm>
          <a:prstGeom prst="rect">
            <a:avLst/>
          </a:prstGeom>
          <a:solidFill>
            <a:srgbClr val="CFEDE8"/>
          </a:solidFill>
          <a:ln/>
        </p:spPr>
      </p:sp>
      <p:sp>
        <p:nvSpPr>
          <p:cNvPr id="24" name="Text 20"/>
          <p:cNvSpPr/>
          <p:nvPr/>
        </p:nvSpPr>
        <p:spPr>
          <a:xfrm>
            <a:off x="1005840" y="57150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数据安全： </a:t>
            </a:r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可本地单机运行，也可私有服务器部署；孩子档案与家长记录按账号隔离，可查看/导出/删除。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A7BC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474720"/>
            <a:ext cx="3657600" cy="3657600"/>
          </a:xfrm>
          <a:prstGeom prst="ellipse">
            <a:avLst/>
          </a:prstGeom>
          <a:solidFill>
            <a:srgbClr val="3A7BC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828800"/>
            <a:ext cx="1371600" cy="1371600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3749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ABA 智能助手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13232" y="4892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面向孩子的科学干预——把专业的 ABA 知识与训练记录，装进每天的陪伴里。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功能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六大功能，覆盖陪伴干预全程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8444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91440" cy="157276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929384"/>
            <a:ext cx="566928" cy="566928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6654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9293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智能问答助手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478024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自然语言提问，回答分级（通用建议 / 需咨询治疗师），标注知识来源。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297180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例：「孩子超市哭闹要玩具？」→ 理解+预防+应对+教学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71416" y="1691640"/>
            <a:ext cx="358444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1416" y="1691640"/>
            <a:ext cx="91440" cy="157276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4" name="Shape 11"/>
          <p:cNvSpPr/>
          <p:nvPr/>
        </p:nvSpPr>
        <p:spPr>
          <a:xfrm>
            <a:off x="4727448" y="1929384"/>
            <a:ext cx="566928" cy="566928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06654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31536" y="19293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个案记忆系统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745736" y="2478024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记住孩子年龄、诊断、目标、强化物偏好与历史，回答越来越个性化。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45736" y="297180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例：记得「小明在练表达、爱汽车」，建议自动贴合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302752" y="1691640"/>
            <a:ext cx="358444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02752" y="1691640"/>
            <a:ext cx="91440" cy="157276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7"/>
          <p:cNvSpPr/>
          <p:nvPr/>
        </p:nvSpPr>
        <p:spPr>
          <a:xfrm>
            <a:off x="8558784" y="1929384"/>
            <a:ext cx="566928" cy="566928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066544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62872" y="19293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回答安全边界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577072" y="2478024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识别自伤/攻击等危机信号，超出能力范围时引导联系专业人员。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577072" y="297180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例：描述自伤行为 → 立即引导就医 + 注意事项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3493008"/>
            <a:ext cx="358444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" y="3493008"/>
            <a:ext cx="91440" cy="157276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8" name="Shape 23"/>
          <p:cNvSpPr/>
          <p:nvPr/>
        </p:nvSpPr>
        <p:spPr>
          <a:xfrm>
            <a:off x="896112" y="3730752"/>
            <a:ext cx="566928" cy="566928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867912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00200" y="37307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训练记录闭环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14400" y="427939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按试次记录 I/V/M/P/E，自动算正确率与掌握状态。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14400" y="477316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例：6 个按钮点一下完成一次试次录入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471416" y="3493008"/>
            <a:ext cx="358444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71416" y="3493008"/>
            <a:ext cx="91440" cy="157276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5" name="Shape 29"/>
          <p:cNvSpPr/>
          <p:nvPr/>
        </p:nvSpPr>
        <p:spPr>
          <a:xfrm>
            <a:off x="4727448" y="3730752"/>
            <a:ext cx="566928" cy="566928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867912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431536" y="37307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课程与技能树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4745736" y="427939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122 项技能、4 大领域结构化进阶；20 题入门评估一键推荐起点。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4745736" y="477316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例：评估后自动生成今日任务清单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302752" y="3493008"/>
            <a:ext cx="358444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302752" y="3493008"/>
            <a:ext cx="91440" cy="157276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42" name="Shape 35"/>
          <p:cNvSpPr/>
          <p:nvPr/>
        </p:nvSpPr>
        <p:spPr>
          <a:xfrm>
            <a:off x="8558784" y="3730752"/>
            <a:ext cx="566928" cy="566928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3867912"/>
            <a:ext cx="292608" cy="2926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262872" y="37307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进展与报告</a:t>
            </a:r>
            <a:endParaRPr lang="en-US" sz="1600" dirty="0"/>
          </a:p>
        </p:txBody>
      </p:sp>
      <p:sp>
        <p:nvSpPr>
          <p:cNvPr id="45" name="Text 37"/>
          <p:cNvSpPr/>
          <p:nvPr/>
        </p:nvSpPr>
        <p:spPr>
          <a:xfrm>
            <a:off x="8577072" y="427939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数据看板（正确率/频次/辅助趋势）+ 自动生成周/月报告。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8577072" y="477316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例：一键导出结构化 Markdown 报告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怎么操作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实操流程：从建档到一份报告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11296" cy="1783080"/>
          </a:xfrm>
          <a:prstGeom prst="rect">
            <a:avLst/>
          </a:prstGeom>
          <a:solidFill>
            <a:srgbClr val="3A7BC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75688"/>
            <a:ext cx="777240" cy="777240"/>
          </a:xfrm>
          <a:prstGeom prst="ellipse">
            <a:avLst/>
          </a:prstGeom>
          <a:solidFill>
            <a:srgbClr val="1C3D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67712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939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建档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292608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填孩子年龄、诊断、目标、强化物偏好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511296" cy="1783080"/>
          </a:xfrm>
          <a:prstGeom prst="rect">
            <a:avLst/>
          </a:prstGeom>
          <a:solidFill>
            <a:srgbClr val="3A7BC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075688"/>
            <a:ext cx="777240" cy="777240"/>
          </a:xfrm>
          <a:prstGeom prst="ellipse">
            <a:avLst/>
          </a:prstGeom>
          <a:solidFill>
            <a:srgbClr val="1C3D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267712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0939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入门评估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09160" y="292608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 题评估 → 领域评分 + 推荐起点技能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1783080"/>
            <a:ext cx="3511296" cy="1783080"/>
          </a:xfrm>
          <a:prstGeom prst="rect">
            <a:avLst/>
          </a:prstGeom>
          <a:solidFill>
            <a:srgbClr val="3A7BC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075688"/>
            <a:ext cx="777240" cy="777240"/>
          </a:xfrm>
          <a:prstGeom prst="ellipse">
            <a:avLst/>
          </a:prstGeom>
          <a:solidFill>
            <a:srgbClr val="1C3D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267712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0" y="20939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生成任务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58200" y="292608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122 技能课程树自动排出今日任务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840480"/>
            <a:ext cx="3511296" cy="1783080"/>
          </a:xfrm>
          <a:prstGeom prst="rect">
            <a:avLst/>
          </a:prstGeom>
          <a:solidFill>
            <a:srgbClr val="3A7BC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133088"/>
            <a:ext cx="777240" cy="777240"/>
          </a:xfrm>
          <a:prstGeom prst="ellipse">
            <a:avLst/>
          </a:prstGeom>
          <a:solidFill>
            <a:srgbClr val="1C3D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4325112"/>
            <a:ext cx="393192" cy="3931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41513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 训练记录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960120" y="498348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技能卡 + 6 按钮按试次记 I/V/M/P/E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389120" y="3840480"/>
            <a:ext cx="3511296" cy="1783080"/>
          </a:xfrm>
          <a:prstGeom prst="rect">
            <a:avLst/>
          </a:prstGeom>
          <a:solidFill>
            <a:srgbClr val="3A7BC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133088"/>
            <a:ext cx="777240" cy="777240"/>
          </a:xfrm>
          <a:prstGeom prst="ellipse">
            <a:avLst/>
          </a:prstGeom>
          <a:solidFill>
            <a:srgbClr val="1C3D5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4325112"/>
            <a:ext cx="393192" cy="3931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41513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⑤ 实时建议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4709160" y="498348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自动算正确率，达标自动推进下一技能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138160" y="3840480"/>
            <a:ext cx="3511296" cy="1783080"/>
          </a:xfrm>
          <a:prstGeom prst="rect">
            <a:avLst/>
          </a:prstGeom>
          <a:solidFill>
            <a:srgbClr val="3A7BC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12480" y="4133088"/>
            <a:ext cx="777240" cy="777240"/>
          </a:xfrm>
          <a:prstGeom prst="ellipse">
            <a:avLst/>
          </a:prstGeom>
          <a:solidFill>
            <a:srgbClr val="1C3D5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4325112"/>
            <a:ext cx="393192" cy="3931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26880" y="4151376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⑥ 看报告</a:t>
            </a:r>
            <a:endParaRPr lang="en-US" sz="1900" dirty="0"/>
          </a:p>
        </p:txBody>
      </p:sp>
      <p:sp>
        <p:nvSpPr>
          <p:cNvPr id="34" name="Text 26"/>
          <p:cNvSpPr/>
          <p:nvPr/>
        </p:nvSpPr>
        <p:spPr>
          <a:xfrm>
            <a:off x="8458200" y="498348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数据看板看趋势 + 一键周/月报告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案例分享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小宇的两周：从「不会要」到「主动说」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822960"/>
          </a:xfrm>
          <a:prstGeom prst="rect">
            <a:avLst/>
          </a:prstGeom>
          <a:solidFill>
            <a:srgbClr val="E3EE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背景： </a:t>
            </a:r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小宇，4 岁，刚确诊；妈妈是新手，目标「用语言表达需求」，过去全靠手记、看不清进展。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3A7BC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684" y="3017520"/>
            <a:ext cx="27432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2606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建档 + 20 题评估 → 系统推荐从「仿说单字」起步，自动生成今日任务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3A7BC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0684" y="3840480"/>
            <a:ext cx="27432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3429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每天 3 个技能、按试次记录；「仿说」正确率从 40% → 65%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3A7BC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0684" y="4663440"/>
            <a:ext cx="27432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遇到卡点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0896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孩子一直不配合 → 问 AI 助手 → 拿到「换更高偏好强化物 + 缩短回合」的具体建议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3A7BC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08960" y="5074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「仿说」达标自动推进到「主动提要求」；周报显示正确率稳定上升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01000" y="2606040"/>
            <a:ext cx="3566160" cy="3246120"/>
          </a:xfrm>
          <a:prstGeom prst="rect">
            <a:avLst/>
          </a:prstGeom>
          <a:solidFill>
            <a:srgbClr val="1C3D5E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753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75320" y="33375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妈妈第一次「看见」进步曲线</a:t>
            </a:r>
            <a:endParaRPr lang="en-US" sz="1350" dirty="0"/>
          </a:p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永远知道「下一步该练什么」</a:t>
            </a:r>
            <a:endParaRPr lang="en-US" sz="1350" dirty="0"/>
          </a:p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卡点当场能问，不必等机构</a:t>
            </a:r>
            <a:endParaRPr lang="en-US" sz="1350" dirty="0"/>
          </a:p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两周记录全自动汇成一份报告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专业底盘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可信，来自扎实的 ABA 知识库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4005072"/>
            <a:ext cx="2606040" cy="10972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个知识分册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19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安全·概念·QA·循证·活动·场景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93008" y="182880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4005072"/>
            <a:ext cx="2606040" cy="109728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12" name="Text 10"/>
          <p:cNvSpPr/>
          <p:nvPr/>
        </p:nvSpPr>
        <p:spPr>
          <a:xfrm>
            <a:off x="3675888" y="21214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11,400+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75888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行专业内容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75888" y="3419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256 KB，完成度 100%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45936" y="182880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4005072"/>
            <a:ext cx="2606040" cy="109728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7" name="Text 15"/>
          <p:cNvSpPr/>
          <p:nvPr/>
        </p:nvSpPr>
        <p:spPr>
          <a:xfrm>
            <a:off x="6528816" y="21214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28816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项训练技能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28816" y="3419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大领域结构化进阶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98864" y="182880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98864" y="4005072"/>
            <a:ext cx="2606040" cy="109728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22" name="Text 20"/>
          <p:cNvSpPr/>
          <p:nvPr/>
        </p:nvSpPr>
        <p:spPr>
          <a:xfrm>
            <a:off x="9381744" y="21214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100+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381744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条高频问答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81744" y="3419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覆盖沟通/社交/行为/生活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10927080" cy="1417320"/>
          </a:xfrm>
          <a:prstGeom prst="rect">
            <a:avLst/>
          </a:prstGeom>
          <a:solidFill>
            <a:srgbClr val="E3EEF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84632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5448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权威来源 · AI 由 MiniMax 大模型驱动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554480" y="51389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BACB Task List · Cooper《应用行为分析》· VB-MAPP / ABLLS-R 评估体系，专业顾问审核。AI 问答与报告由 MiniMax 大模型生成；回答区分「通用建议」与「需专业指导」并标注依据。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1C3D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4389120"/>
            <a:ext cx="3291840" cy="3291840"/>
          </a:xfrm>
          <a:prstGeom prst="ellipse">
            <a:avLst/>
          </a:prstGeom>
          <a:solidFill>
            <a:srgbClr val="3A7BC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371600"/>
            <a:ext cx="1371600" cy="1371600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4" y="17007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3200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辅助，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而非替代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01000" y="4663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选择权和决策权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始终留给家长。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安全与隐私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777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让家长放心托付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40080" y="1691640"/>
            <a:ext cx="662940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1938528"/>
            <a:ext cx="530352" cy="530352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05740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27632" y="18196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危机信号识别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627632" y="2185416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自伤、攻击强度上升等 → 立即引导联系专业人员/就医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2788920"/>
            <a:ext cx="662940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035808"/>
            <a:ext cx="530352" cy="530352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546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27632" y="2916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透明的能力边界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27632" y="3282696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明确告知能做什么、不能做什么；区分通用建议与专业指导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3886200"/>
            <a:ext cx="662940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4133088"/>
            <a:ext cx="530352" cy="530352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2519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27632" y="40142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数据本地/私有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627632" y="4379976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可单机运行或私有服务器部署，孩子信息不强制上云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4983480"/>
            <a:ext cx="662940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680" y="5230368"/>
            <a:ext cx="530352" cy="530352"/>
          </a:xfrm>
          <a:prstGeom prst="ellipse">
            <a:avLst/>
          </a:prstGeom>
          <a:solidFill>
            <a:srgbClr val="E3EEF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34924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27632" y="51114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BC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家长掌控数据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627632" y="5477256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档案可查看、编辑、导出、删除，隐私优先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474720"/>
            <a:ext cx="3657600" cy="3657600"/>
          </a:xfrm>
          <a:prstGeom prst="ellipse">
            <a:avLst/>
          </a:prstGeom>
          <a:solidFill>
            <a:srgbClr val="0F766E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828800"/>
            <a:ext cx="1371600" cy="1371600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3749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人生教练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13232" y="4892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照顾好自己，才能照顾好孩子——一个面向家长本人的 AI 心理成长教练。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为什么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被忽视的那个人：家长自己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主产品照顾孩子，人生教练照顾家长——基于 ACT、正念与积极心理学，温暖、非评判、可操作。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20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3520440" cy="91440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 / 抑郁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自闭症家长的焦虑、抑郁、压力水平显著高于其他家长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520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103120"/>
            <a:ext cx="3520440" cy="91440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影响干预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家长心理状态直接影响干预效果：压力越高、自我效能越低，成果越弱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2103120"/>
            <a:ext cx="3520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103120"/>
            <a:ext cx="3520440" cy="91440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资源稀缺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03920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时间、经济、地域限制，多数家长拿不到持续的心理 coaching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10927080" cy="14630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人生教练做什么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0120" y="4983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陪家长处理情绪、找回自我、明确价值观、迈出小行动——不是说教，是陪伴；不替代心理治疗，遇到临床问题引导寻求专业帮助。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能帮你什么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人生教练具体能为家长做的 8 件事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3969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697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情绪即时急救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953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崩溃、焦虑、自责的那一刻有人接住、陪你过去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69164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196596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139696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2697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危机识别 + 热线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2953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出现「撑不下去」等信号，立即给危机资源，最坏时刻不孤单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169164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46520" y="196596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139696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697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议题驱动成长路径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46520" y="2953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围绕一个具体议题，走 ACT 六阶段——每个议题都有专属个性化练习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06840" y="169164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35440" y="196596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139696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2697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情绪追踪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35440" y="29535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记录心情+触发+强度+身体感受，看见自己的情绪模式与进步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3465576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68680" y="3739896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91363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44714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周报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68680" y="47274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按周自动汇总情绪、记录、任务数据，生成趋势分析与个性化建议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29000" y="3465576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57600" y="3739896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3913632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49040" y="44714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心理知识库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3657600" y="47274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大领域、34 篇文章，读得懂、用得上；教练结合处境延展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17920" y="3465576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46520" y="3739896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3913632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37960" y="44714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教练任务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6446520" y="47274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种情绪各配专属练习任务，完成即可得具体下一步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006840" y="3465576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235440" y="3739896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3913632"/>
            <a:ext cx="320040" cy="32004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26880" y="44714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任务快速跳转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9235440" y="47274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成长任务一键跳转到知识库、记录、情绪追踪，练习无缝衔接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方法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议题驱动的个性化成长路径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选择一个具体困扰你的议题（如「孩子发脾气时的焦虑」），系统自动识别类型，生成专属的 6 阶段练习。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8444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25856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43230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22199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焦虑类模板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37360" y="260604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焦虑身体地图 · 4-7-8呼吸 · 安全锚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0175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着陆练习 / 焦虑冲浪 / 广播解离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47288" y="22219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71416" y="1965960"/>
            <a:ext cx="358444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27448" y="225856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43230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68696" y="222199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自责类模板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568696" y="260604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给批评家取名 · 慈悲朋友视角 · 写慈悲信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45736" y="30175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自我关怀冥想 / 足够好标准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278624" y="22219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302752" y="1965960"/>
            <a:ext cx="358444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58784" y="225856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3230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400032" y="222199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疲惫类模板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400032" y="260604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精力地图 · 氧气面罩法则 · 微型休息菜单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577072" y="30175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支持网络地图 / 精力保护规则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1109960" y="22219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40080" y="3703320"/>
            <a:ext cx="358444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96112" y="399592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16966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737360" y="395935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社交类模板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737360" y="43434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聚光灯效应检验 · 暴露练习 · 找同类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14400" y="47548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正念社交 / 有意义vs消耗社交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447288" y="39593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471416" y="3703320"/>
            <a:ext cx="358444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727448" y="3995928"/>
            <a:ext cx="713232" cy="71323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4169664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568696" y="395935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亲子类模板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5568696" y="43434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情绪触发链 · 暂停-呼吸-回应 · 正念亲子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4745736" y="47548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换位感受 / 价值观导向互动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7278624" y="39593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个性化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8302752" y="3703320"/>
            <a:ext cx="358444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558784" y="3995928"/>
            <a:ext cx="713232" cy="713232"/>
          </a:xfrm>
          <a:prstGeom prst="ellipse">
            <a:avLst/>
          </a:prstGeom>
          <a:solidFill>
            <a:srgbClr val="5A6B6E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169664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400032" y="395935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通用模板</a:t>
            </a:r>
            <a:endParaRPr lang="en-US" sz="1600" dirty="0"/>
          </a:p>
        </p:txBody>
      </p:sp>
      <p:sp>
        <p:nvSpPr>
          <p:cNvPr id="45" name="Text 37"/>
          <p:cNvSpPr/>
          <p:nvPr/>
        </p:nvSpPr>
        <p:spPr>
          <a:xfrm>
            <a:off x="9400032" y="43434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 ACT 六阶段（觉察→解离→当下→自我→价值观→行动）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8577072" y="47548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 个通用练习，适合任何议题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怎么工作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教练对话引擎：三层把关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903720" cy="12344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12264"/>
            <a:ext cx="566928" cy="566928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942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110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安全分流（最高优先级）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00200" y="2258568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每句话先做风险识别。出现自伤/绝望/「带孩子一起走」等信号 → 立即给危机回应 + 心理援助热线，不进入普通对话。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6903720" cy="12344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483864"/>
            <a:ext cx="566928" cy="566928"/>
          </a:xfrm>
          <a:prstGeom prst="ellipse">
            <a:avLst/>
          </a:prstGeom>
          <a:solidFill>
            <a:srgbClr val="F2B44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62102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2826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ACT 教练（MiniMax 大模型）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600200" y="3630168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反映式倾听 + 苏格拉底式提问。明确边界：不诊断、不开药、不替代治疗。简短、共情、以一个开放问题或一个小行动收尾。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526280"/>
            <a:ext cx="6903720" cy="12344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855464"/>
            <a:ext cx="566928" cy="566928"/>
          </a:xfrm>
          <a:prstGeom prst="ellipse">
            <a:avLst/>
          </a:prstGeom>
          <a:solidFill>
            <a:srgbClr val="5EC4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99262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6542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脚本兜底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00200" y="5001768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没有 AI 额度或调用失败时，自动回退到情绪策略库的暖心回应，保证离线也能用、不会崩。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0" y="1783080"/>
            <a:ext cx="3794760" cy="4023360"/>
          </a:xfrm>
          <a:prstGeom prst="rect">
            <a:avLst/>
          </a:prstGeom>
          <a:solidFill>
            <a:srgbClr val="FBF7F0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0010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一段真实风格的回应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001000" y="23774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家长：陪孩子训练他一直不配合，我又急又愧疚。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001000" y="3063240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教练：今天陪孩子训练已经不容易了……你先允许自己有这个情绪——它不是「错的」，你只是个想做好、却暂时卡住的家长。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我想问你一句：那个「急」里面，有没有一部分是在担心自己「做错了什么」？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情绪支持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认得出情绪，给得出具体的下一步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说出此刻的感受，教练识别情绪类型并给出对应策略 + 一个此刻就能做的小任务。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2697480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762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😟 焦虑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接纳+解离+当下锚定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5-4-3-2-1 着陆练习（2 分钟）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201168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56432" y="2011680"/>
            <a:ext cx="2697480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1762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😢 悲伤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9312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接纳+允许+温暖陪伴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39312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安静坐 5 分钟，不改变任何感受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2784" y="201168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2011680"/>
            <a:ext cx="2697480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21762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😤 愤怒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664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探索需求+建设性表达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5664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非暴力沟通四步法写一段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89136" y="201168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89136" y="2011680"/>
            <a:ext cx="2697480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21762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😩 疲惫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72016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确认+自我关怀+设边界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72016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列 3 件可以请人帮忙的事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547872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547872"/>
            <a:ext cx="2697480" cy="82296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712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😔 自责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096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认知解离+自我关怀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「我注意到我有…的想法」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56432" y="3547872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56432" y="3547872"/>
            <a:ext cx="2697480" cy="82296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33" name="Text 31"/>
          <p:cNvSpPr/>
          <p:nvPr/>
        </p:nvSpPr>
        <p:spPr>
          <a:xfrm>
            <a:off x="3639312" y="3712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🫂 孤独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39312" y="4096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确认+连接行动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39312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给一个朋友发一句「最近还好吗」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72784" y="3547872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72784" y="3547872"/>
            <a:ext cx="2697480" cy="82296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38" name="Text 36"/>
          <p:cNvSpPr/>
          <p:nvPr/>
        </p:nvSpPr>
        <p:spPr>
          <a:xfrm>
            <a:off x="6455664" y="3712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🤔 困惑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55664" y="4096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苏格拉底提问+价值观锚定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55664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写下：不考虑别人看法你会怎么选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89136" y="3547872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089136" y="3547872"/>
            <a:ext cx="2697480" cy="82296"/>
          </a:xfrm>
          <a:prstGeom prst="rect">
            <a:avLst/>
          </a:prstGeom>
          <a:solidFill>
            <a:srgbClr val="F0805A"/>
          </a:solidFill>
          <a:ln/>
        </p:spPr>
      </p:sp>
      <p:sp>
        <p:nvSpPr>
          <p:cNvPr id="43" name="Text 41"/>
          <p:cNvSpPr/>
          <p:nvPr/>
        </p:nvSpPr>
        <p:spPr>
          <a:xfrm>
            <a:off x="9272016" y="3712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🌟 感恩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72016" y="4096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放大积极+意义构建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272016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记录今天 3 件好事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知识库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读得懂、用得上的心理成长知识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大领域、34 篇文章（持续扩充），每篇都能让教练结合你的处境延展。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029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覆盖领域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核心方法论（ACT 六过程）</a:t>
            </a:r>
            <a:endParaRPr lang="en-US" sz="135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情绪与心理管理（8 类情绪）</a:t>
            </a:r>
            <a:endParaRPr lang="en-US" sz="135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自我认知与成长 · 心理韧性</a:t>
            </a:r>
            <a:endParaRPr lang="en-US" sz="135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关系经营（伴侣 / 边界沟通）</a:t>
            </a:r>
            <a:endParaRPr lang="en-US" sz="135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健康（睡眠 / 运动）· 时间与习惯</a:t>
            </a:r>
            <a:endParaRPr lang="en-US" sz="135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养育支持 · 正念练习库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97880" y="2057400"/>
            <a:ext cx="5669280" cy="3840480"/>
          </a:xfrm>
          <a:prstGeom prst="rect">
            <a:avLst/>
          </a:prstGeom>
          <a:solidFill>
            <a:srgbClr val="0B4F4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「点进去不傻」的阅读体验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0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结合我的情况举个例子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2200" y="30540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把文章正文交给教练，按你的处境延展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35295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🧘 带我做一次这个练习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7220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教练一步步带你做文章里的练习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4315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 没太懂，换个说法讲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72200" y="46268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用更口语的方式重讲核心意思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51023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🔖 收藏 / ✓ 已读 / 📎 相关文章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2200" y="54132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标记与跳转，越读越成体系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案例分享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一位妈妈的两周：从深夜崩溃到睡个好觉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822960"/>
          </a:xfrm>
          <a:prstGeom prst="rect">
            <a:avLst/>
          </a:prstGeom>
          <a:solidFill>
            <a:srgbClr val="CFEDE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背景： </a:t>
            </a:r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一位妈妈，长期失眠、反复自责「我不是个好妈妈」，身边没人能说，越夜越崩。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684" y="3017520"/>
            <a:ext cx="27432" cy="411480"/>
          </a:xfrm>
          <a:prstGeom prst="rect">
            <a:avLst/>
          </a:prstGeom>
          <a:solidFill>
            <a:srgbClr val="5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那一夜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2606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深夜打下「我撑不下去了」→ 安全分流先给陪伴 + 心理援助热线，没有被一句鸡汤打发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0684" y="3840480"/>
            <a:ext cx="27432" cy="411480"/>
          </a:xfrm>
          <a:prstGeom prst="rect">
            <a:avLst/>
          </a:prstGeom>
          <a:solidFill>
            <a:srgbClr val="5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开始成长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3429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创建议题「我对自己的自责」，系统自动匹配「自责类」模板——每个练习都围绕自责设计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0684" y="4663440"/>
            <a:ext cx="27432" cy="411480"/>
          </a:xfrm>
          <a:prstGeom prst="rect">
            <a:avLst/>
          </a:prstGeom>
          <a:solidFill>
            <a:srgbClr val="5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0896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用「慈悲朋友视角」练习、写「给自己的慈悲信」；情绪追踪发现焦虑集中在傍晚训练时段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08960" y="5074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周报显示「自责频率下降 40%」；睡前用清空法，自评心情从 😢 慢慢回到 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01000" y="2606040"/>
            <a:ext cx="3566160" cy="3246120"/>
          </a:xfrm>
          <a:prstGeom prst="rect">
            <a:avLst/>
          </a:prstGeom>
          <a:solidFill>
            <a:srgbClr val="0B4F4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753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75320" y="32918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最崩溃的一刻有人接住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议题路径完全贴合自责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不再把消极想法当成事实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周报看到自责频率下降 40%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睡眠与心情都在好转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一天里，两个助手怎么陪着你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6172" y="2377440"/>
            <a:ext cx="1133856" cy="1133856"/>
          </a:xfrm>
          <a:prstGeom prst="ellipse">
            <a:avLst/>
          </a:prstGeom>
          <a:solidFill>
            <a:srgbClr val="F2B44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651760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03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早晨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251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人生教练记录今天心情（触发+强度+身体感受），做一次 3 分钟呼吸空间。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27832" y="278892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493008" y="19659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29100" y="2377440"/>
            <a:ext cx="1133856" cy="1133856"/>
          </a:xfrm>
          <a:prstGeom prst="ellipse">
            <a:avLst/>
          </a:prstGeom>
          <a:solidFill>
            <a:srgbClr val="3A7BC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651760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3703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白天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767328" y="4251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超市孩子闹情绪 → ABA 助手问「怎么处理」，顺手记一次试次。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080760" y="278892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6345936" y="19659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82028" y="2377440"/>
            <a:ext cx="1133856" cy="1133856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48" y="2651760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3703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傍晚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620256" y="4251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训练受挫、心里发堵 → 找人生教练聊两句，做成长任务的小练习。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933688" y="278892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9198864" y="19659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34956" y="2377440"/>
            <a:ext cx="1133856" cy="113385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9276" y="2651760"/>
            <a:ext cx="585216" cy="58521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98864" y="3703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睡前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9473184" y="4251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ABA 看今天数据看板；人生教练看 AI 周报，了解本周情绪趋势。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206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如何开始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打开网页，三步就能用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8892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1005840" cy="1005840"/>
          </a:xfrm>
          <a:prstGeom prst="ellipse">
            <a:avLst/>
          </a:prstGeom>
          <a:solidFill>
            <a:srgbClr val="3A7BC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752344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注册账号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24128" y="42062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浏览器打开主应用，注册自己的账号——孩子档案、家长记录都按账号隔离。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2057400"/>
            <a:ext cx="35204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3EE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5600" dirty="0"/>
          </a:p>
        </p:txBody>
      </p:sp>
      <p:sp>
        <p:nvSpPr>
          <p:cNvPr id="13" name="Shape 10"/>
          <p:cNvSpPr/>
          <p:nvPr/>
        </p:nvSpPr>
        <p:spPr>
          <a:xfrm>
            <a:off x="4800600" y="2514600"/>
            <a:ext cx="1005840" cy="1005840"/>
          </a:xfrm>
          <a:prstGeom prst="ellipse">
            <a:avLst/>
          </a:prstGeom>
          <a:solidFill>
            <a:srgbClr val="3A7BC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75234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给孩子建档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818888" y="42062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填入孩子基本情况与目标，做一次 20 题入门评估，自动生成训练任务。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0" y="2057400"/>
            <a:ext cx="35204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1037844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Shape 15"/>
          <p:cNvSpPr/>
          <p:nvPr/>
        </p:nvSpPr>
        <p:spPr>
          <a:xfrm>
            <a:off x="8595360" y="2514600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2752344"/>
            <a:ext cx="530352" cy="5303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95360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照顾好自己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8613648" y="42062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点「进入人生教练」，描述一个困扰你的议题，系统自动为你生成个性化成长路径。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5486400"/>
            <a:ext cx="10927080" cy="566928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5486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4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无需安装：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浏览器访问即可；支持单机绿色包（双击启动）与私有服务器部署两种方式。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943600" cy="5943600"/>
          </a:xfrm>
          <a:prstGeom prst="ellipse">
            <a:avLst/>
          </a:prstGeom>
          <a:solidFill>
            <a:srgbClr val="0F766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474720"/>
            <a:ext cx="4572000" cy="457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846320"/>
            <a:ext cx="2011680" cy="2011680"/>
          </a:xfrm>
          <a:prstGeom prst="ellipse">
            <a:avLst/>
          </a:prstGeom>
          <a:solidFill>
            <a:srgbClr val="F0805A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188720"/>
            <a:ext cx="914400" cy="914400"/>
          </a:xfrm>
          <a:prstGeom prst="ellipse">
            <a:avLst/>
          </a:prstGeom>
          <a:solidFill>
            <a:srgbClr val="F080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898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陪孩子成长，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也别弄丢了你自己。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45262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D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让专业的 ABA 干预与温暖的 ACT 陪伴触手可及——孩子的每一点进步，家长的每一次喘息，都有人懂、有据可循。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5760720"/>
            <a:ext cx="457200" cy="54864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EC4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ABA 智能助手 + 人生教练  ·  一个账号，两个助手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ABA智能助手 + 人生教练 — 产品介绍</dc:title>
  <dc:subject>PptxGenJS Presentation</dc:subject>
  <dc:creator>ABA智能助手</dc:creator>
  <cp:lastModifiedBy>ABA智能助手</cp:lastModifiedBy>
  <cp:revision>1</cp:revision>
  <dcterms:created xsi:type="dcterms:W3CDTF">2026-06-01T00:15:31Z</dcterms:created>
  <dcterms:modified xsi:type="dcterms:W3CDTF">2026-06-01T00:15:31Z</dcterms:modified>
</cp:coreProperties>
</file>